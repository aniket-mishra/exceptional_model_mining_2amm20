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IrP3V8okEFhlH2Lu1VA81FT7p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CC1109-E1C2-4202-9BA6-53F605889A22}">
  <a:tblStyle styleId="{FACC1109-E1C2-4202-9BA6-53F605889A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a.mishra3@student.tue.nl" TargetMode="External"/><Relationship Id="rId4" Type="http://schemas.openxmlformats.org/officeDocument/2006/relationships/hyperlink" Target="mailto:anmishraofficial@gmail.com" TargetMode="External"/><Relationship Id="rId5" Type="http://schemas.openxmlformats.org/officeDocument/2006/relationships/hyperlink" Target="mailto:anmishraofficial@gmail.com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60350" y="1223200"/>
            <a:ext cx="82233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Exceptional Model Residual Mining,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endParaRPr b="1" i="0" sz="29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 Richer EMM Description Languages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C4E9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Aniket Mishra</a:t>
            </a:r>
            <a:r>
              <a:rPr i="0" lang="en-US" sz="17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7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 Cristiana C</a:t>
            </a:r>
            <a:r>
              <a:rPr lang="en-US" sz="1700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ǎ</a:t>
            </a:r>
            <a:r>
              <a:rPr b="0" i="0" lang="en-US" sz="17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rbunaru, Dr. Wouter Duivesteijn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0CC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B0B0CC"/>
                </a:solidFill>
                <a:latin typeface="Calibri"/>
                <a:ea typeface="Calibri"/>
                <a:cs typeface="Calibri"/>
                <a:sym typeface="Calibri"/>
              </a:rPr>
              <a:t>Technische Universiteit Eindhoven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300"/>
              <a:buFont typeface="Calibri"/>
              <a:buNone/>
            </a:pPr>
            <a:r>
              <a:rPr lang="en-US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24th April, 2026</a:t>
            </a:r>
            <a:r>
              <a:rPr lang="en-US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IDA 2026  |  Leiden, the Netherlands</a:t>
            </a:r>
            <a:endParaRPr b="0" i="0" u="none" cap="none" strike="noStrike">
              <a:solidFill>
                <a:srgbClr val="D1C4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5088600"/>
            <a:ext cx="9144000" cy="5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 rot="5400000">
            <a:off x="-2536524" y="2547225"/>
            <a:ext cx="5127300" cy="54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 rot="5400000">
            <a:off x="6553226" y="2544450"/>
            <a:ext cx="5127300" cy="54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60350" y="2283250"/>
            <a:ext cx="8284500" cy="5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6775" y="2403502"/>
            <a:ext cx="1868120" cy="18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1450" y="4597800"/>
            <a:ext cx="1868125" cy="4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142522" y="299700"/>
            <a:ext cx="6144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Why Mine Model Residuals?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27548" y="1188725"/>
            <a:ext cx="4151100" cy="3558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4911" rotWithShape="0" algn="bl" dir="8100000" dist="27455">
              <a:srgbClr val="000000">
                <a:alpha val="10196"/>
              </a:srgbClr>
            </a:outerShdw>
          </a:effectLst>
        </p:spPr>
        <p:txBody>
          <a:bodyPr anchorCtr="0" anchor="ctr" bIns="98825" lIns="98825" spcFirstLastPara="1" rIns="98825" wrap="square" tIns="98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21841" y="1336983"/>
            <a:ext cx="3558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25" lIns="98825" spcFirstLastPara="1" rIns="98825" wrap="square" tIns="49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46"/>
              <a:buFont typeface="Georgia"/>
              <a:buNone/>
            </a:pPr>
            <a:r>
              <a:rPr b="1" i="0" lang="en-US" sz="1946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1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1848" y="1880600"/>
            <a:ext cx="37458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25" lIns="98825" spcFirstLastPara="1" rIns="98825" wrap="square" tIns="49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13"/>
              <a:buFont typeface="Calibri"/>
              <a:buNone/>
            </a:pPr>
            <a:r>
              <a:rPr b="0" i="0" lang="en-US" sz="15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models fail </a:t>
            </a:r>
            <a:r>
              <a:rPr b="1" i="0" lang="en-US" sz="1513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locally</a:t>
            </a:r>
            <a:r>
              <a:rPr b="0" i="0" lang="en-US" sz="15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3"/>
              <a:buFont typeface="Calibri"/>
              <a:buNone/>
            </a:pPr>
            <a:r>
              <a:t/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13"/>
              <a:buFont typeface="Calibri"/>
              <a:buNone/>
            </a:pPr>
            <a:r>
              <a:rPr b="0" i="0" lang="en-US" sz="15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error metrics hide</a:t>
            </a:r>
            <a:r>
              <a:rPr lang="en-US" sz="15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subgroup-specific failures.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3"/>
              <a:buFont typeface="Calibri"/>
              <a:buNone/>
            </a:pPr>
            <a:r>
              <a:t/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5"/>
              <a:buFont typeface="Calibri"/>
              <a:buNone/>
            </a:pPr>
            <a:r>
              <a:rPr b="0" i="1" lang="en-US" sz="14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solar power model fails only when temperature &gt; 60°C AND humidity is low.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8642" y="1188725"/>
            <a:ext cx="4151100" cy="3558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4911" rotWithShape="0" algn="bl" dir="8100000" dist="27455">
              <a:srgbClr val="000000">
                <a:alpha val="10196"/>
              </a:srgbClr>
            </a:outerShdw>
          </a:effectLst>
        </p:spPr>
        <p:txBody>
          <a:bodyPr anchorCtr="0" anchor="ctr" bIns="98825" lIns="98825" spcFirstLastPara="1" rIns="98825" wrap="square" tIns="98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961310" y="1336983"/>
            <a:ext cx="3558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425" lIns="98825" spcFirstLastPara="1" rIns="98825" wrap="square" tIns="49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46"/>
              <a:buFont typeface="Georgia"/>
              <a:buNone/>
            </a:pPr>
            <a:r>
              <a:rPr b="1" i="0" lang="en-US" sz="1946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Our Approach: EMRM</a:t>
            </a:r>
            <a:endParaRPr b="0" i="0" sz="1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961300" y="1880600"/>
            <a:ext cx="37458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25" lIns="98825" spcFirstLastPara="1" rIns="98825" wrap="square" tIns="49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13"/>
              <a:buFont typeface="Calibri"/>
              <a:buNone/>
            </a:pPr>
            <a:r>
              <a:rPr b="0" i="0" lang="en-US" sz="15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Mine for </a:t>
            </a:r>
            <a:r>
              <a:rPr b="1" i="0" lang="en-US" sz="1513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interpretable subgroups</a:t>
            </a:r>
            <a:r>
              <a:rPr b="0" i="0" lang="en-US" sz="15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where residuals are exceptionally high or low.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3"/>
              <a:buFont typeface="Calibri"/>
              <a:buNone/>
            </a:pPr>
            <a:r>
              <a:t/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513"/>
              <a:buFont typeface="Calibri"/>
              <a:buNone/>
            </a:pPr>
            <a:r>
              <a:rPr b="0" i="0" lang="en-US" sz="1513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High residuals = model underperformance.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513"/>
              <a:buFont typeface="Calibri"/>
              <a:buNone/>
            </a:pPr>
            <a:r>
              <a:rPr b="0" i="0" lang="en-US" sz="1513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Low residuals = model overperformance.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3"/>
              <a:buFont typeface="Calibri"/>
              <a:buNone/>
            </a:pPr>
            <a:r>
              <a:t/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13"/>
              <a:buFont typeface="Calibri"/>
              <a:buNone/>
            </a:pPr>
            <a:r>
              <a:rPr b="0" i="0" lang="en-US" sz="15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We also </a:t>
            </a:r>
            <a:r>
              <a:rPr lang="en-US" sz="151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introduce</a:t>
            </a:r>
            <a:r>
              <a:rPr b="0" i="0" lang="en-US" sz="15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13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three new</a:t>
            </a:r>
            <a:r>
              <a:rPr b="0" i="0" lang="en-US" sz="1513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description languages.</a:t>
            </a:r>
            <a:endParaRPr b="0" i="0" sz="15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900" y="1230838"/>
            <a:ext cx="3558600" cy="34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50" y="1273875"/>
            <a:ext cx="3977500" cy="33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172125" y="168725"/>
            <a:ext cx="87885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Background: EMM and Subgroup Discovery</a:t>
            </a:r>
            <a:endParaRPr i="0" sz="3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26550" y="1119050"/>
            <a:ext cx="4110600" cy="1859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1649" rotWithShape="0" algn="bl" dir="8100000" dist="25824">
              <a:srgbClr val="000000">
                <a:alpha val="10196"/>
              </a:srgbClr>
            </a:outerShdw>
          </a:effectLst>
        </p:spPr>
        <p:txBody>
          <a:bodyPr anchorCtr="0" anchor="ctr" bIns="92975" lIns="92975" spcFirstLastPara="1" rIns="92975" wrap="square" tIns="9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76388" y="1199509"/>
            <a:ext cx="39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50" lIns="92975" spcFirstLastPara="1" rIns="92975" wrap="square" tIns="4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1627"/>
              <a:buFont typeface="Georgia"/>
              <a:buNone/>
            </a:pPr>
            <a:r>
              <a:rPr b="1" i="0" lang="en-US" sz="1627" u="none" cap="none" strike="noStrike">
                <a:solidFill>
                  <a:srgbClr val="6A1B9A"/>
                </a:solidFill>
                <a:latin typeface="Georgia"/>
                <a:ea typeface="Georgia"/>
                <a:cs typeface="Georgia"/>
                <a:sym typeface="Georgia"/>
              </a:rPr>
              <a:t>Subgroup Discovery (SD)</a:t>
            </a:r>
            <a:endParaRPr b="0" i="0" sz="1627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76388" y="1676857"/>
            <a:ext cx="36462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75" spcFirstLastPara="1" rIns="92975" wrap="square" tIns="464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2"/>
              <a:buFont typeface="Calibri"/>
              <a:buNone/>
            </a:pPr>
            <a:r>
              <a:rPr b="0" i="0" lang="en-US" sz="152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Find subgroups where the distribution of a single target variable differs from the overall dataset.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706795" y="1119050"/>
            <a:ext cx="4110600" cy="1859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1649" rotWithShape="0" algn="bl" dir="8100000" dist="25824">
              <a:srgbClr val="000000">
                <a:alpha val="10196"/>
              </a:srgbClr>
            </a:outerShdw>
          </a:effectLst>
        </p:spPr>
        <p:txBody>
          <a:bodyPr anchorCtr="0" anchor="ctr" bIns="92975" lIns="92975" spcFirstLastPara="1" rIns="92975" wrap="square" tIns="9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6"/>
          </a:p>
        </p:txBody>
      </p:sp>
      <p:sp>
        <p:nvSpPr>
          <p:cNvPr id="51" name="Google Shape;51;p3"/>
          <p:cNvSpPr/>
          <p:nvPr/>
        </p:nvSpPr>
        <p:spPr>
          <a:xfrm>
            <a:off x="4787893" y="1199509"/>
            <a:ext cx="390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50" lIns="92975" spcFirstLastPara="1" rIns="92975" wrap="square" tIns="4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627"/>
              <a:buFont typeface="Georgia"/>
              <a:buNone/>
            </a:pPr>
            <a:r>
              <a:rPr b="1" i="0" lang="en-US" sz="1627" u="none" cap="none" strike="noStrike">
                <a:solidFill>
                  <a:srgbClr val="6A1B9A"/>
                </a:solidFill>
                <a:latin typeface="Georgia"/>
                <a:ea typeface="Georgia"/>
                <a:cs typeface="Georgia"/>
                <a:sym typeface="Georgia"/>
              </a:rPr>
              <a:t>Exceptional Model Mining (EMM)</a:t>
            </a:r>
            <a:endParaRPr b="0" i="0" sz="1627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787893" y="1676857"/>
            <a:ext cx="37200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75" spcFirstLastPara="1" rIns="92975" wrap="square" tIns="464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22"/>
              <a:buFont typeface="Calibri"/>
              <a:buNone/>
            </a:pPr>
            <a:r>
              <a:rPr b="0" i="0" lang="en-US" sz="152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Find subgroups where some modeling over a target space has exceptional parameters. Targets typically span multiple dimensions.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6550" y="3122413"/>
            <a:ext cx="8490900" cy="1818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3603" rotWithShape="0" algn="bl" dir="8100000" dist="26801">
              <a:srgbClr val="000000">
                <a:alpha val="10196"/>
              </a:srgbClr>
            </a:outerShdw>
          </a:effectLst>
        </p:spPr>
        <p:txBody>
          <a:bodyPr anchorCtr="0" anchor="ctr" bIns="96475" lIns="96475" spcFirstLastPara="1" rIns="96475" wrap="square" tIns="9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6"/>
          </a:p>
        </p:txBody>
      </p:sp>
      <p:sp>
        <p:nvSpPr>
          <p:cNvPr id="54" name="Google Shape;54;p3"/>
          <p:cNvSpPr/>
          <p:nvPr/>
        </p:nvSpPr>
        <p:spPr>
          <a:xfrm>
            <a:off x="515815" y="3209959"/>
            <a:ext cx="8014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25" lIns="96475" spcFirstLastPara="1" rIns="96475" wrap="square" tIns="48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88"/>
              <a:buFont typeface="Georgia"/>
              <a:buNone/>
            </a:pPr>
            <a:r>
              <a:rPr b="1" i="0" lang="en-US" sz="1690" u="none" cap="none" strike="noStrike">
                <a:solidFill>
                  <a:srgbClr val="6A1B9A"/>
                </a:solidFill>
                <a:latin typeface="Georgia"/>
                <a:ea typeface="Georgia"/>
                <a:cs typeface="Georgia"/>
                <a:sym typeface="Georgia"/>
              </a:rPr>
              <a:t>Core Concepts</a:t>
            </a:r>
            <a:endParaRPr b="0" i="0" sz="1690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15815" y="3558604"/>
            <a:ext cx="81126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25" lIns="96475" spcFirstLastPara="1" rIns="96475" wrap="square" tIns="482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72"/>
              <a:buFont typeface="Calibri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Description d : X → {0,1}</a:t>
            </a: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determines which records belong to a subgroup.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72"/>
              <a:buFont typeface="Calibri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Description Language L</a:t>
            </a: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restricts the form of descriptions (ensures interpretability).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72"/>
              <a:buFont typeface="Calibri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Quality Measure q : L → R</a:t>
            </a: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scores how exceptional a subgroup 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72"/>
              <a:buFont typeface="Calibri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report top-k subgroups by quality via beam search.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378665" y="2794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EMRM: The Task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56492" y="1016500"/>
            <a:ext cx="8182500" cy="156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3080" rotWithShape="0" algn="bl" dir="8100000" dist="26540">
              <a:srgbClr val="000000">
                <a:alpha val="10196"/>
              </a:srgbClr>
            </a:outerShdw>
          </a:effectLst>
        </p:spPr>
        <p:txBody>
          <a:bodyPr anchorCtr="0" anchor="ctr" bIns="95525" lIns="95525" spcFirstLastPara="1" rIns="95525" wrap="square" tIns="95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84500" y="1234450"/>
            <a:ext cx="78729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Given: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 trained black-box regressor f and dataset D = {(x_i, y_i)}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Compute: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pointwise squared residuals  r_i = (y_i - f(x_i))^2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Mine: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interpretable subgroups where residuals are exceptionally high or 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0018" y="2870153"/>
            <a:ext cx="8182500" cy="20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3080" rotWithShape="0" algn="bl" dir="8100000" dist="26540">
              <a:srgbClr val="000000">
                <a:alpha val="10200"/>
              </a:srgbClr>
            </a:outerShdw>
          </a:effectLst>
        </p:spPr>
        <p:txBody>
          <a:bodyPr anchorCtr="0" anchor="ctr" bIns="95525" lIns="95525" spcFirstLastPara="1" rIns="95525" wrap="square" tIns="95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25268" y="2931150"/>
            <a:ext cx="773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Residual Exceptionality 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89418" y="3329775"/>
            <a:ext cx="8030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500"/>
              <a:buFont typeface="Consolas"/>
              <a:buNone/>
            </a:pPr>
            <a:r>
              <a:rPr b="1" i="0" lang="en-US" sz="1600" u="none" cap="none" strike="noStrike">
                <a:solidFill>
                  <a:srgbClr val="6A1B9A"/>
                </a:solidFill>
                <a:latin typeface="Consolas"/>
                <a:ea typeface="Consolas"/>
                <a:cs typeface="Consolas"/>
                <a:sym typeface="Consolas"/>
              </a:rPr>
              <a:t>q_res(d) = |mean(r in S_d) - mean(r in D)| / sqrt(Var(r in D) / |S_d|)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25268" y="3856632"/>
            <a:ext cx="79947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Behaves like a z-score.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High q_res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= model systematically underperforms (large residuals).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Low q_res (when minimizing)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= model systematically overperforms (small residuals).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363650" y="274325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Four Description Languages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0200" y="1097275"/>
            <a:ext cx="112200" cy="8229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72421" y="1097275"/>
            <a:ext cx="81174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74425" y="1143000"/>
            <a:ext cx="76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1400"/>
              <a:buFont typeface="Consolas"/>
              <a:buNone/>
            </a:pPr>
            <a:r>
              <a:rPr b="1" i="0" lang="en-US" sz="1600" u="none" cap="none" strike="noStrike">
                <a:solidFill>
                  <a:srgbClr val="283593"/>
                </a:solidFill>
                <a:latin typeface="Consolas"/>
                <a:ea typeface="Consolas"/>
                <a:cs typeface="Consolas"/>
                <a:sym typeface="Consolas"/>
              </a:rPr>
              <a:t>L_conj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513799" y="1143000"/>
            <a:ext cx="541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Conjunctions:  AND-connected attribute-value conditions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850560" y="1143000"/>
            <a:ext cx="169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 conjuncts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513799" y="1481327"/>
            <a:ext cx="689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283593"/>
                </a:solidFill>
                <a:latin typeface="Consolas"/>
                <a:ea typeface="Consolas"/>
                <a:cs typeface="Consolas"/>
                <a:sym typeface="Consolas"/>
              </a:rPr>
              <a:t>(RM &gt; 7) ∧ (LSTAT &lt; 5)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60200" y="2057400"/>
            <a:ext cx="112200" cy="8229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72421" y="2057400"/>
            <a:ext cx="81174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74425" y="2103117"/>
            <a:ext cx="76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400"/>
              <a:buFont typeface="Consolas"/>
              <a:buNone/>
            </a:pPr>
            <a:r>
              <a:rPr b="1" i="0" lang="en-US" sz="1600" u="none" cap="none" strike="noStrike">
                <a:solidFill>
                  <a:srgbClr val="388E3C"/>
                </a:solidFill>
                <a:latin typeface="Consolas"/>
                <a:ea typeface="Consolas"/>
                <a:cs typeface="Consolas"/>
                <a:sym typeface="Consolas"/>
              </a:rPr>
              <a:t>L_poly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513800" y="2103120"/>
            <a:ext cx="599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Polynomial Predicates:  Degree-2 polynomial combinations of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50560" y="2103117"/>
            <a:ext cx="169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degree ≤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513799" y="2441443"/>
            <a:ext cx="689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388E3C"/>
                </a:solidFill>
                <a:latin typeface="Consolas"/>
                <a:ea typeface="Consolas"/>
                <a:cs typeface="Consolas"/>
                <a:sym typeface="Consolas"/>
              </a:rPr>
              <a:t>0.6 · RM² - 0.4 · LSTAT &lt; 30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0200" y="3017525"/>
            <a:ext cx="112200" cy="8229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72421" y="3017525"/>
            <a:ext cx="81174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74425" y="3063234"/>
            <a:ext cx="76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Consolas"/>
              <a:buNone/>
            </a:pPr>
            <a:r>
              <a:rPr b="1" i="0" lang="en-US" sz="16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L_tree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513799" y="3063234"/>
            <a:ext cx="541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Shallow Decision Trees:  Paths in a depth-limited decision tree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850560" y="3063234"/>
            <a:ext cx="169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depth ≤ 3</a:t>
            </a:r>
            <a:r>
              <a:rPr i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or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513799" y="3401559"/>
            <a:ext cx="689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LSTAT &lt; 10 → RM &gt; 6 → Residual &gt;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0200" y="3977650"/>
            <a:ext cx="112200" cy="822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72421" y="3977650"/>
            <a:ext cx="81174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74425" y="4023351"/>
            <a:ext cx="76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400"/>
              <a:buFont typeface="Consolas"/>
              <a:buNone/>
            </a:pPr>
            <a:r>
              <a:rPr b="1" i="0" lang="en-US" sz="1600" u="none" cap="none" strike="noStrike">
                <a:solidFill>
                  <a:srgbClr val="6A1B9A"/>
                </a:solidFill>
                <a:latin typeface="Consolas"/>
                <a:ea typeface="Consolas"/>
                <a:cs typeface="Consolas"/>
                <a:sym typeface="Consolas"/>
              </a:rPr>
              <a:t>L_symb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513799" y="4023351"/>
            <a:ext cx="541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Symbolic Expressions:  Compact arithmetic formulas (+, -, ×, ÷)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50560" y="4023351"/>
            <a:ext cx="169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≤ 3 operators, ≤ 2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513799" y="4361676"/>
            <a:ext cx="689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Consolas"/>
              <a:buNone/>
            </a:pPr>
            <a:r>
              <a:rPr b="0" i="0" lang="en-US" sz="1500" u="none" cap="none" strike="noStrike">
                <a:solidFill>
                  <a:srgbClr val="6A1B9A"/>
                </a:solidFill>
                <a:latin typeface="Consolas"/>
                <a:ea typeface="Consolas"/>
                <a:cs typeface="Consolas"/>
                <a:sym typeface="Consolas"/>
              </a:rPr>
              <a:t>RM / LSTAT &gt; 1.5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376350" y="254000"/>
            <a:ext cx="8309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Measuring Interpretability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68600" y="1051575"/>
            <a:ext cx="8124900" cy="1239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97175" y="1061675"/>
            <a:ext cx="7846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onsolas"/>
              <a:buNone/>
            </a:pPr>
            <a:r>
              <a:rPr b="1" i="0" lang="en-US" sz="2200" u="none" cap="none" strike="noStrike">
                <a:solidFill>
                  <a:srgbClr val="6A1B9A"/>
                </a:solidFill>
                <a:latin typeface="Consolas"/>
                <a:ea typeface="Consolas"/>
                <a:cs typeface="Consolas"/>
                <a:sym typeface="Consolas"/>
              </a:rPr>
              <a:t>I(d) = 1 / (1 + C(d))</a:t>
            </a:r>
            <a:endParaRPr b="0" i="0" sz="2200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97175" y="1453825"/>
            <a:ext cx="78468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Interpretability is inversely related to complexity. Lower complexity = higher interpretability.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Interpretability can be calculated in multiple ways other than the one above.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US" sz="16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Interpretability Score = </a:t>
            </a:r>
            <a:r>
              <a:rPr lang="en-US" sz="1300">
                <a:solidFill>
                  <a:srgbClr val="6A1B9A"/>
                </a:solidFill>
              </a:rPr>
              <a:t>sqrt(q_res * exp(-0.7*C(d))) </a:t>
            </a:r>
            <a:r>
              <a:rPr lang="en-US" sz="1300">
                <a:solidFill>
                  <a:srgbClr val="212121"/>
                </a:solidFill>
              </a:rPr>
              <a:t>(configurable)</a:t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68762" y="2514603"/>
            <a:ext cx="81249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8" name="Google Shape;108;p6"/>
          <p:cNvSpPr/>
          <p:nvPr/>
        </p:nvSpPr>
        <p:spPr>
          <a:xfrm>
            <a:off x="675528" y="2560328"/>
            <a:ext cx="89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1300"/>
              <a:buFont typeface="Consolas"/>
              <a:buNone/>
            </a:pPr>
            <a:r>
              <a:rPr b="1" i="0" lang="en-US" sz="1600" u="none" cap="none" strike="noStrike">
                <a:solidFill>
                  <a:srgbClr val="283593"/>
                </a:solidFill>
                <a:latin typeface="Consolas"/>
                <a:ea typeface="Consolas"/>
                <a:cs typeface="Consolas"/>
                <a:sym typeface="Consolas"/>
              </a:rPr>
              <a:t>L_conj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572166" y="2560328"/>
            <a:ext cx="66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C(d) = #predicates(d)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68762" y="3063244"/>
            <a:ext cx="81249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1" name="Google Shape;111;p6"/>
          <p:cNvSpPr/>
          <p:nvPr/>
        </p:nvSpPr>
        <p:spPr>
          <a:xfrm>
            <a:off x="675528" y="3108969"/>
            <a:ext cx="89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300"/>
              <a:buFont typeface="Consolas"/>
              <a:buNone/>
            </a:pPr>
            <a:r>
              <a:rPr b="1" i="0" lang="en-US" sz="1600" u="none" cap="none" strike="noStrike">
                <a:solidFill>
                  <a:srgbClr val="388E3C"/>
                </a:solidFill>
                <a:latin typeface="Consolas"/>
                <a:ea typeface="Consolas"/>
                <a:cs typeface="Consolas"/>
                <a:sym typeface="Consolas"/>
              </a:rPr>
              <a:t>L_poly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572166" y="3108969"/>
            <a:ext cx="66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C(d) = #terms(d) + degree(d)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68762" y="3611885"/>
            <a:ext cx="81249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4" name="Google Shape;114;p6"/>
          <p:cNvSpPr/>
          <p:nvPr/>
        </p:nvSpPr>
        <p:spPr>
          <a:xfrm>
            <a:off x="675528" y="3657609"/>
            <a:ext cx="89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300"/>
              <a:buFont typeface="Consolas"/>
              <a:buNone/>
            </a:pPr>
            <a:r>
              <a:rPr b="1" i="0" lang="en-US" sz="1600" u="none" cap="none" strike="noStrike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rPr>
              <a:t>L_tree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572166" y="3657610"/>
            <a:ext cx="66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C(d) = depth(d) + #splits(d)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68762" y="4160526"/>
            <a:ext cx="81249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7" name="Google Shape;117;p6"/>
          <p:cNvSpPr/>
          <p:nvPr/>
        </p:nvSpPr>
        <p:spPr>
          <a:xfrm>
            <a:off x="675528" y="4206250"/>
            <a:ext cx="896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00"/>
              <a:buFont typeface="Consolas"/>
              <a:buNone/>
            </a:pPr>
            <a:r>
              <a:rPr b="1" i="0" lang="en-US" sz="1600" u="none" cap="none" strike="noStrike">
                <a:solidFill>
                  <a:srgbClr val="6A1B9A"/>
                </a:solidFill>
                <a:latin typeface="Consolas"/>
                <a:ea typeface="Consolas"/>
                <a:cs typeface="Consolas"/>
                <a:sym typeface="Consolas"/>
              </a:rPr>
              <a:t>L_symb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572166" y="4206251"/>
            <a:ext cx="664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C(d) = #tokens(d)  (operands + operators)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68635" y="4617725"/>
            <a:ext cx="812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Goal: trade off subgroup quality q(d) and interpretability I(d) via Pareto-optimal solutions.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470711" y="153775"/>
            <a:ext cx="7990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Experimental Setup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7"/>
          <p:cNvGraphicFramePr/>
          <p:nvPr/>
        </p:nvGraphicFramePr>
        <p:xfrm>
          <a:off x="574123" y="937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{FACC1109-E1C2-4202-9BA6-53F605889A22}</a:tableStyleId>
              </a:tblPr>
              <a:tblGrid>
                <a:gridCol w="1393850"/>
                <a:gridCol w="805375"/>
                <a:gridCol w="501800"/>
                <a:gridCol w="862350"/>
                <a:gridCol w="847225"/>
              </a:tblGrid>
              <a:tr h="39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2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2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 sz="12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2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Attributes</a:t>
                      </a:r>
                      <a:endParaRPr sz="12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Auto-mpg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398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Boston Housing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506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MEDV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1 473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Wife_Age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34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Fires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517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area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Prediction MSD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515 345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year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7"/>
          <p:cNvSpPr/>
          <p:nvPr/>
        </p:nvSpPr>
        <p:spPr>
          <a:xfrm>
            <a:off x="5131208" y="937666"/>
            <a:ext cx="3433500" cy="275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380467" y="1018206"/>
            <a:ext cx="2976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Setup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380457" y="1340364"/>
            <a:ext cx="2976000" cy="1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Black-box Regression model: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Search: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Beam search, width = 200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Top-25 Pareto-optimal subgroups per language per dataset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Discretization: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lnca strategy, 5 cut points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74125" y="3835389"/>
            <a:ext cx="7990500" cy="85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1" name="Google Shape;131;p7"/>
          <p:cNvSpPr/>
          <p:nvPr/>
        </p:nvSpPr>
        <p:spPr>
          <a:xfrm>
            <a:off x="731520" y="3985042"/>
            <a:ext cx="1417200" cy="5487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" name="Google Shape;132;p7"/>
          <p:cNvSpPr/>
          <p:nvPr/>
        </p:nvSpPr>
        <p:spPr>
          <a:xfrm>
            <a:off x="731520" y="3985042"/>
            <a:ext cx="141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f on 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286000" y="3985042"/>
            <a:ext cx="1417200" cy="5487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4" name="Google Shape;134;p7"/>
          <p:cNvSpPr/>
          <p:nvPr/>
        </p:nvSpPr>
        <p:spPr>
          <a:xfrm>
            <a:off x="2286000" y="3985042"/>
            <a:ext cx="141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 r_i = (y_i - f(x_i))^2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840480" y="3985042"/>
            <a:ext cx="1417200" cy="5487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7"/>
          <p:cNvSpPr/>
          <p:nvPr/>
        </p:nvSpPr>
        <p:spPr>
          <a:xfrm>
            <a:off x="3840480" y="3985042"/>
            <a:ext cx="141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Mine subgroups per 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394960" y="3985042"/>
            <a:ext cx="1417200" cy="5487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8" name="Google Shape;138;p7"/>
          <p:cNvSpPr/>
          <p:nvPr/>
        </p:nvSpPr>
        <p:spPr>
          <a:xfrm>
            <a:off x="5394960" y="3985042"/>
            <a:ext cx="141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 q(d) and I(d)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949440" y="3985042"/>
            <a:ext cx="1417200" cy="548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0" name="Google Shape;140;p7"/>
          <p:cNvSpPr/>
          <p:nvPr/>
        </p:nvSpPr>
        <p:spPr>
          <a:xfrm>
            <a:off x="6949440" y="3985042"/>
            <a:ext cx="141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Pareto frontier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Results: </a:t>
            </a:r>
            <a:r>
              <a:rPr b="1" i="0" lang="en-US" sz="3000" u="none" cap="none" strike="noStrike">
                <a:solidFill>
                  <a:srgbClr val="283593"/>
                </a:solidFill>
                <a:latin typeface="Georgia"/>
                <a:ea typeface="Georgia"/>
                <a:cs typeface="Georgia"/>
                <a:sym typeface="Georgia"/>
              </a:rPr>
              <a:t>L_conj</a:t>
            </a: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(Baseline)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600" u="none" cap="none" strike="noStrike">
                <a:solidFill>
                  <a:srgbClr val="283593"/>
                </a:solidFill>
                <a:latin typeface="Calibri"/>
                <a:ea typeface="Calibri"/>
                <a:cs typeface="Calibri"/>
                <a:sym typeface="Calibri"/>
              </a:rPr>
              <a:t>Underperformance mining: maximizing q_res</a:t>
            </a:r>
            <a:endParaRPr b="0" i="0" sz="1600" u="none" cap="none" strike="noStrike">
              <a:solidFill>
                <a:srgbClr val="2835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8"/>
          <p:cNvGraphicFramePr/>
          <p:nvPr/>
        </p:nvGraphicFramePr>
        <p:xfrm>
          <a:off x="597036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{FACC1109-E1C2-4202-9BA6-53F605889A22}</a:tableStyleId>
              </a:tblPr>
              <a:tblGrid>
                <a:gridCol w="1298575"/>
                <a:gridCol w="5178725"/>
                <a:gridCol w="733025"/>
                <a:gridCol w="723000"/>
              </a:tblGrid>
              <a:tr h="51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 d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q_res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|S|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593"/>
                    </a:solidFill>
                  </a:tcPr>
                </a:tc>
              </a:tr>
              <a:tr h="40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Auto-mpg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weight &gt; 2155 ∧ model &gt; 79 ∧ cylinders &gt; 4</a:t>
                      </a:r>
                      <a:endParaRPr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7.70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40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Boston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PTRATIO &gt; 19.7 ∧ LSTAT ≤ 11.45 ∧ DIS ≤ 2.1</a:t>
                      </a:r>
                      <a:endParaRPr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14.82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Contr_Method ≤ 1 ∧ Wife_Edu &gt; 3 ∧ Wife_religion &gt; 0</a:t>
                      </a:r>
                      <a:endParaRPr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10.56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40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Fires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day &gt; 6 ∧ month &gt; 8 ∧ ISI &gt; 8.56</a:t>
                      </a:r>
                      <a:endParaRPr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8.81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Pred.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timbre_avg_6 &gt; -8.1 ∧ timbre_avg_3 &gt; 16.18 ∧ ...</a:t>
                      </a:r>
                      <a:endParaRPr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119.57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65956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8"/>
          <p:cNvSpPr/>
          <p:nvPr/>
        </p:nvSpPr>
        <p:spPr>
          <a:xfrm>
            <a:off x="441080" y="4043822"/>
            <a:ext cx="829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283593"/>
                </a:solidFill>
                <a:latin typeface="Calibri"/>
                <a:ea typeface="Calibri"/>
                <a:cs typeface="Calibri"/>
                <a:sym typeface="Calibri"/>
              </a:rPr>
              <a:t>Highest peak q_res on 3 of 5 datasets</a:t>
            </a:r>
            <a:r>
              <a:rPr b="0" i="0" lang="en-US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(Auto-mpg, Boston Housing, Forest Fires).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41080" y="4485851"/>
            <a:ext cx="829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 at detecting axis-aligned failure regions.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Results: </a:t>
            </a:r>
            <a:r>
              <a:rPr b="1" i="0" lang="en-US" sz="3000" u="none" cap="none" strike="noStrike">
                <a:solidFill>
                  <a:srgbClr val="6A1B9A"/>
                </a:solidFill>
                <a:latin typeface="Georgia"/>
                <a:ea typeface="Georgia"/>
                <a:cs typeface="Georgia"/>
                <a:sym typeface="Georgia"/>
              </a:rPr>
              <a:t>L_symb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6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Underperformance mining: maximizing q_res</a:t>
            </a:r>
            <a:endParaRPr b="0" i="0" sz="1600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9"/>
          <p:cNvGraphicFramePr/>
          <p:nvPr/>
        </p:nvGraphicFramePr>
        <p:xfrm>
          <a:off x="589878" y="1295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{FACC1109-E1C2-4202-9BA6-53F605889A22}</a:tableStyleId>
              </a:tblPr>
              <a:tblGrid>
                <a:gridCol w="1522925"/>
                <a:gridCol w="4100325"/>
                <a:gridCol w="937250"/>
                <a:gridCol w="673050"/>
                <a:gridCol w="730675"/>
              </a:tblGrid>
              <a:tr h="42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 d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q_res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C(d)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|S|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</a:tr>
              <a:tr h="42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Auto-mpg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 + origin) &gt; 80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42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Boston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(CHAS + RAD) &gt; 24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8.30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Wife_Edu - Contr_Method &gt; 2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8.75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42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Fires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temp &gt; 24.6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3.84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Pred.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(timbre_avg_6 + timbre_avg_3) &gt; 33.77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103.25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73605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9"/>
          <p:cNvSpPr/>
          <p:nvPr/>
        </p:nvSpPr>
        <p:spPr>
          <a:xfrm>
            <a:off x="589950" y="3927800"/>
            <a:ext cx="79641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600"/>
              <a:buFont typeface="Calibri"/>
              <a:buNone/>
            </a:pPr>
            <a:r>
              <a:rPr b="1" lang="en-US" sz="19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Has the best trade-off on the tested configuration.</a:t>
            </a:r>
            <a:endParaRPr b="1" sz="1900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600"/>
              <a:buFont typeface="Calibri"/>
              <a:buNone/>
            </a:pPr>
            <a:r>
              <a:rPr i="0" lang="en-US" sz="19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q_res = 103.25 at complexity C(d) = 3</a:t>
            </a:r>
            <a:r>
              <a:rPr b="0" i="0" lang="en-US" sz="17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Year Prediction MSD.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Compact arithmetic formulas (ratios, sums) capture the error structure efficiently.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305625" y="274325"/>
            <a:ext cx="852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Results: </a:t>
            </a:r>
            <a:r>
              <a:rPr b="1" i="0" lang="en-US" sz="3000" u="none" cap="none" strike="noStrike">
                <a:solidFill>
                  <a:srgbClr val="388E3C"/>
                </a:solidFill>
                <a:latin typeface="Georgia"/>
                <a:ea typeface="Georgia"/>
                <a:cs typeface="Georgia"/>
                <a:sym typeface="Georgia"/>
              </a:rPr>
              <a:t>L_poly</a:t>
            </a:r>
            <a:r>
              <a:rPr b="1" i="0" lang="en-US" sz="30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i="0" lang="en-US" sz="3000" u="none" cap="none" strike="noStrike">
                <a:solidFill>
                  <a:srgbClr val="C62828"/>
                </a:solidFill>
                <a:latin typeface="Georgia"/>
                <a:ea typeface="Georgia"/>
                <a:cs typeface="Georgia"/>
                <a:sym typeface="Georgia"/>
              </a:rPr>
              <a:t>L_tree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17675" y="965534"/>
            <a:ext cx="112200" cy="1921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529830" y="965450"/>
            <a:ext cx="8154900" cy="192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8" name="Google Shape;168;p10"/>
          <p:cNvSpPr/>
          <p:nvPr/>
        </p:nvSpPr>
        <p:spPr>
          <a:xfrm>
            <a:off x="701759" y="1061500"/>
            <a:ext cx="7982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600"/>
              <a:buFont typeface="Georgia"/>
              <a:buNone/>
            </a:pPr>
            <a:r>
              <a:rPr b="1" i="0" lang="en-US" sz="1900" u="none" cap="none" strike="noStrike">
                <a:solidFill>
                  <a:srgbClr val="388E3C"/>
                </a:solidFill>
                <a:latin typeface="Georgia"/>
                <a:ea typeface="Georgia"/>
                <a:cs typeface="Georgia"/>
                <a:sym typeface="Georgia"/>
              </a:rPr>
              <a:t>L_poly: Polynomial Predicates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11225" y="1445724"/>
            <a:ext cx="80736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Highest peak quality overall: q_res = 121.73 on Year Prediction MSD.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100"/>
              <a:buFont typeface="Consolas"/>
              <a:buNone/>
            </a:pPr>
            <a:r>
              <a:rPr b="0" i="0" lang="en-US" sz="1600" u="none" cap="none" strike="noStrike">
                <a:solidFill>
                  <a:srgbClr val="388E3C"/>
                </a:solidFill>
                <a:latin typeface="Consolas"/>
                <a:ea typeface="Consolas"/>
                <a:cs typeface="Consolas"/>
                <a:sym typeface="Consolas"/>
              </a:rPr>
              <a:t>Rule: timbre_avg_3 × timbre_cov_3_3 &gt; 1758 ∧ timbre_avg_1 × timbre_avg_6 &gt; -409.9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Captures non-linear interaction terms. Higher complexity (C(d) = 6) than L_symb.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17675" y="3075769"/>
            <a:ext cx="112200" cy="1921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29830" y="3075773"/>
            <a:ext cx="8154900" cy="192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2" name="Google Shape;172;p10"/>
          <p:cNvSpPr/>
          <p:nvPr/>
        </p:nvSpPr>
        <p:spPr>
          <a:xfrm>
            <a:off x="701759" y="3171820"/>
            <a:ext cx="7982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600"/>
              <a:buFont typeface="Georgia"/>
              <a:buNone/>
            </a:pPr>
            <a:r>
              <a:rPr b="1" i="0" lang="en-US" sz="1900" u="none" cap="none" strike="noStrike">
                <a:solidFill>
                  <a:srgbClr val="C62828"/>
                </a:solidFill>
                <a:latin typeface="Georgia"/>
                <a:ea typeface="Georgia"/>
                <a:cs typeface="Georgia"/>
                <a:sym typeface="Georgia"/>
              </a:rPr>
              <a:t>L_tree: Shallow Decision Trees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11225" y="3556046"/>
            <a:ext cx="80736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Peak quality on CMC: q_res = 10.99. Competitive on Forest Fires (8.55).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Captures hierarchical and sequential feature relationships.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Higher structural complexity. </a:t>
            </a:r>
            <a:r>
              <a:rPr lang="en-US" sz="16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Shows </a:t>
            </a: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one subgroup per leaf.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>
            <a:off x="365115" y="2937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Overperformance Mining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65115" y="8880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Minimizing q_res: where does the model excel?</a:t>
            </a:r>
            <a:endParaRPr b="0" i="0" sz="1400" u="none" cap="none" strike="noStrike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1"/>
          <p:cNvGraphicFramePr/>
          <p:nvPr/>
        </p:nvGraphicFramePr>
        <p:xfrm>
          <a:off x="43149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{FACC1109-E1C2-4202-9BA6-53F605889A22}</a:tableStyleId>
              </a:tblPr>
              <a:tblGrid>
                <a:gridCol w="1258650"/>
                <a:gridCol w="774550"/>
                <a:gridCol w="6196375"/>
              </a:tblGrid>
              <a:tr h="39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5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q_res</a:t>
                      </a:r>
                      <a:endParaRPr sz="15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Interpretation</a:t>
                      </a:r>
                      <a:endParaRPr sz="15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39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Auto-mpg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</a:t>
                      </a:r>
                      <a:endParaRPr sz="1600" u="none" cap="none" strike="noStrike">
                        <a:solidFill>
                          <a:srgbClr val="6A1B9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Older, mid-to-heavy cars. Model confidently predicts low mileage.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39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Boston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</a:t>
                      </a:r>
                      <a:endParaRPr sz="1600" u="none" cap="none" strike="noStrike">
                        <a:solidFill>
                          <a:srgbClr val="6A1B9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Residential area with moderate rooms, far from employment.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</a:t>
                      </a:r>
                      <a:endParaRPr sz="1600" u="none" cap="none" strike="noStrike">
                        <a:solidFill>
                          <a:srgbClr val="6A1B9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Married women with high-mid occupation/method use.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39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Fires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 sz="1600" u="none" cap="none" strike="noStrike">
                        <a:solidFill>
                          <a:srgbClr val="6A1B9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Fires under specific low temp / dry fuel conditions.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Pred.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A1B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3.40</a:t>
                      </a:r>
                      <a:endParaRPr sz="1600" u="none" cap="none" strike="noStrike">
                        <a:solidFill>
                          <a:srgbClr val="6A1B9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Highly constrained area of the timbre space.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1"/>
          <p:cNvSpPr/>
          <p:nvPr/>
        </p:nvSpPr>
        <p:spPr>
          <a:xfrm>
            <a:off x="365126" y="4028450"/>
            <a:ext cx="83784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EMRM works in both directions. </a:t>
            </a: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Knowing where the model succeeds is equally valuable for deployment confidence.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543546" y="152074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Comparing the Languages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2"/>
          <p:cNvGraphicFramePr/>
          <p:nvPr/>
        </p:nvGraphicFramePr>
        <p:xfrm>
          <a:off x="528265" y="15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{FACC1109-E1C2-4202-9BA6-53F605889A22}</a:tableStyleId>
              </a:tblPr>
              <a:tblGrid>
                <a:gridCol w="1254600"/>
                <a:gridCol w="1108575"/>
                <a:gridCol w="1366350"/>
                <a:gridCol w="1723750"/>
                <a:gridCol w="2479400"/>
              </a:tblGrid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Peak </a:t>
                      </a: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q_res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Peak residual</a:t>
                      </a:r>
                      <a:endParaRPr b="1"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</a:t>
                      </a: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1600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Tradeoff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D1C4E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Structural Insight</a:t>
                      </a:r>
                      <a:endParaRPr sz="1600" u="none" cap="none" strike="noStrike">
                        <a:solidFill>
                          <a:srgbClr val="D1C4E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Auto-mpg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7.70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L_conj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L_symb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Hierarchical, mechanical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Boston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14.82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L_conj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388E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L_poly</a:t>
                      </a:r>
                      <a:r>
                        <a:rPr b="1"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 L_symb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Spatial socioeconomic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10.99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C6282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L_tree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L_symb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Hierarchical socioeconomic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Fires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8.81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3593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35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L_conj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L_symb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Seasonal, environmental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Pred.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121.73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8E3C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88E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L_poly</a:t>
                      </a:r>
                      <a:endParaRPr sz="16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1B9A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6A1B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L_symb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Non-linear dependency</a:t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2"/>
          <p:cNvSpPr/>
          <p:nvPr/>
        </p:nvSpPr>
        <p:spPr>
          <a:xfrm>
            <a:off x="528375" y="4039842"/>
            <a:ext cx="37788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1400"/>
              <a:buFont typeface="Consolas"/>
              <a:buNone/>
            </a:pPr>
            <a:r>
              <a:rPr b="1" i="0" lang="en-US" sz="1600" u="none" cap="none" strike="noStrike">
                <a:solidFill>
                  <a:srgbClr val="283593"/>
                </a:solidFill>
                <a:latin typeface="Consolas"/>
                <a:ea typeface="Consolas"/>
                <a:cs typeface="Consolas"/>
                <a:sym typeface="Consolas"/>
              </a:rPr>
              <a:t>L_conj</a:t>
            </a:r>
            <a:r>
              <a:rPr b="0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shows</a:t>
            </a:r>
            <a:r>
              <a:rPr b="0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peak quality on 3/5 datasets. Best generalist when complexity is not a concern.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682274" y="4039799"/>
            <a:ext cx="37788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400"/>
              <a:buFont typeface="Consolas"/>
              <a:buNone/>
            </a:pPr>
            <a:r>
              <a:rPr b="1" i="0" lang="en-US" sz="1600" u="none" cap="none" strike="noStrike">
                <a:solidFill>
                  <a:srgbClr val="6A1B9A"/>
                </a:solidFill>
                <a:latin typeface="Consolas"/>
                <a:ea typeface="Consolas"/>
                <a:cs typeface="Consolas"/>
                <a:sym typeface="Consolas"/>
              </a:rPr>
              <a:t>L_symb</a:t>
            </a:r>
            <a:r>
              <a:rPr b="0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shows highest</a:t>
            </a:r>
            <a:r>
              <a:rPr b="0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interpretability score on all 5 datasets. Best trade-off between quality and complexity within the tested </a:t>
            </a:r>
            <a:r>
              <a:rPr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b="0" i="0" lang="en-US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28313" y="764500"/>
            <a:ext cx="7932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400"/>
              <a:buFont typeface="Calibri"/>
              <a:buNone/>
            </a:pPr>
            <a:r>
              <a:rPr i="1" lang="en-US" sz="16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Note: Cross-language comparisons are observational. The languages differ in search strategy, </a:t>
            </a:r>
            <a:r>
              <a:rPr i="1" lang="en-US" sz="16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candidate space size, and complexity definition</a:t>
            </a:r>
            <a:r>
              <a:rPr i="1" lang="en-US" sz="16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1600">
              <a:solidFill>
                <a:srgbClr val="6A1B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7F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300525" y="274325"/>
            <a:ext cx="860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300525" y="1097287"/>
            <a:ext cx="114900" cy="10515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415300" y="1097275"/>
            <a:ext cx="84525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639284" y="1163482"/>
            <a:ext cx="798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6A1B9A"/>
                </a:solidFill>
                <a:latin typeface="Georgia"/>
                <a:ea typeface="Georgia"/>
                <a:cs typeface="Georgia"/>
                <a:sym typeface="Georgia"/>
              </a:rPr>
              <a:t>Algebraic conciseness beats logical complexity</a:t>
            </a:r>
            <a:endParaRPr i="0" sz="1800" u="none" cap="none" strike="noStrike">
              <a:solidFill>
                <a:srgbClr val="6A1B9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39275" y="1519229"/>
            <a:ext cx="79854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Simple arithmetic expressions (ratios, sums) capture the non-linear error structure of regression models more efficiently than multi-predicate Boolean rules.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300525" y="2331730"/>
            <a:ext cx="114900" cy="10515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415300" y="2331724"/>
            <a:ext cx="84525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39284" y="2397932"/>
            <a:ext cx="798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283593"/>
                </a:solidFill>
                <a:latin typeface="Georgia"/>
                <a:ea typeface="Georgia"/>
                <a:cs typeface="Georgia"/>
                <a:sym typeface="Georgia"/>
              </a:rPr>
              <a:t>The language shapes the discovery</a:t>
            </a:r>
            <a:endParaRPr i="0" sz="1800" u="none" cap="none" strike="noStrike">
              <a:solidFill>
                <a:srgbClr val="28359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639275" y="2753678"/>
            <a:ext cx="79854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Each language reveals a different aspect of the model's failure mode. Using only one language gives only one perspective.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300525" y="3566173"/>
            <a:ext cx="114900" cy="10515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415300" y="3566174"/>
            <a:ext cx="8452500" cy="1051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639284" y="3632381"/>
            <a:ext cx="798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388E3C"/>
                </a:solidFill>
                <a:latin typeface="Georgia"/>
                <a:ea typeface="Georgia"/>
                <a:cs typeface="Georgia"/>
                <a:sym typeface="Georgia"/>
              </a:rPr>
              <a:t>EMRM gives both sides of the story</a:t>
            </a:r>
            <a:endParaRPr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39275" y="3988127"/>
            <a:ext cx="7985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Mining for high residuals finds underperformance. Mining for low residuals finds overperformance. Both are useful for deployment decisions.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/>
          <p:nvPr/>
        </p:nvSpPr>
        <p:spPr>
          <a:xfrm>
            <a:off x="264875" y="249600"/>
            <a:ext cx="85722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264875" y="865800"/>
            <a:ext cx="85722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1C4E9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EMRM</a:t>
            </a:r>
            <a:r>
              <a:rPr b="0" i="0" lang="en-US" sz="16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: a new EMM task where regression residuals are the basis for assessing exceptionality.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1C4E9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Three new description languages</a:t>
            </a:r>
            <a:r>
              <a:rPr b="0" i="0" lang="en-US" sz="16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for EMM: Polynomial Predicates, Shallow Decision Trees, Symbolic Expressions. E</a:t>
            </a:r>
            <a:r>
              <a:rPr lang="en-US" sz="16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ach presents distinct trade-offs in expressiveness and interpretability.</a:t>
            </a:r>
            <a:endParaRPr sz="1600">
              <a:solidFill>
                <a:srgbClr val="CCCCD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1C4E9"/>
              </a:buClr>
              <a:buSzPts val="1500"/>
              <a:buFont typeface="Calibri"/>
              <a:buNone/>
            </a:pPr>
            <a:r>
              <a:rPr lang="en-US" sz="1600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Empirical findings (limited, non-comparable setup):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600"/>
              <a:buChar char="➢"/>
            </a:pPr>
            <a:r>
              <a:rPr b="1" i="0" lang="en-US" sz="1600" u="none" cap="none" strike="noStrike">
                <a:solidFill>
                  <a:srgbClr val="D1C4E9"/>
                </a:solidFill>
                <a:latin typeface="Consolas"/>
                <a:ea typeface="Consolas"/>
                <a:cs typeface="Consolas"/>
                <a:sym typeface="Consolas"/>
              </a:rPr>
              <a:t>L_symb</a:t>
            </a:r>
            <a:r>
              <a:rPr b="0" i="0" lang="en-US" sz="16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achieves the best quality-interpretability trade-off.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600"/>
              <a:buChar char="➢"/>
            </a:pPr>
            <a:r>
              <a:rPr b="1" i="0" lang="en-US" sz="1600" u="none" cap="none" strike="noStrike">
                <a:solidFill>
                  <a:srgbClr val="D1C4E9"/>
                </a:solidFill>
                <a:latin typeface="Consolas"/>
                <a:ea typeface="Consolas"/>
                <a:cs typeface="Consolas"/>
                <a:sym typeface="Consolas"/>
              </a:rPr>
              <a:t>L_conj</a:t>
            </a:r>
            <a:r>
              <a:rPr b="0" i="0" lang="en-US" sz="1600" u="none" cap="none" strike="noStrike">
                <a:solidFill>
                  <a:srgbClr val="CCCCDD"/>
                </a:solidFill>
                <a:latin typeface="Calibri"/>
                <a:ea typeface="Calibri"/>
                <a:cs typeface="Calibri"/>
                <a:sym typeface="Calibri"/>
              </a:rPr>
              <a:t> achieves the highest peak quality on the majority of datasets.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64875" y="3140802"/>
            <a:ext cx="85722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C4E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1C4E9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64875" y="3555400"/>
            <a:ext cx="85722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MDL-based complexity for principled cross-language comparison.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Cross-validated residuals for fairer generalization assessment.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Statistical comparison (e.g. Friedman test) across languages and more datasets.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Extension to classification and other model types.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0" y="5094900"/>
            <a:ext cx="9144000" cy="48600"/>
          </a:xfrm>
          <a:prstGeom prst="rect">
            <a:avLst/>
          </a:prstGeom>
          <a:solidFill>
            <a:srgbClr val="D1C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6" name="Google Shape;226;p15"/>
          <p:cNvSpPr/>
          <p:nvPr/>
        </p:nvSpPr>
        <p:spPr>
          <a:xfrm>
            <a:off x="323519" y="438050"/>
            <a:ext cx="81498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5000" u="none" cap="none" strike="noStrike">
                <a:solidFill>
                  <a:srgbClr val="D1C4E9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000" u="none" cap="none" strike="noStrike">
              <a:solidFill>
                <a:srgbClr val="D1C4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23519" y="1491449"/>
            <a:ext cx="3587400" cy="48600"/>
          </a:xfrm>
          <a:prstGeom prst="rect">
            <a:avLst/>
          </a:prstGeom>
          <a:solidFill>
            <a:srgbClr val="D1C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8" name="Google Shape;228;p15"/>
          <p:cNvSpPr/>
          <p:nvPr/>
        </p:nvSpPr>
        <p:spPr>
          <a:xfrm>
            <a:off x="323519" y="2178673"/>
            <a:ext cx="8149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Code and data:</a:t>
            </a:r>
            <a:endParaRPr b="0" i="0" sz="2000" u="none" cap="none" strike="noStrike">
              <a:solidFill>
                <a:srgbClr val="D1C4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323523" y="2559425"/>
            <a:ext cx="5843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C4E9"/>
              </a:buClr>
              <a:buSzPts val="1300"/>
              <a:buFont typeface="Consolas"/>
              <a:buNone/>
            </a:pPr>
            <a:r>
              <a:rPr b="0" i="0" lang="en-US" sz="1500" u="none" cap="none" strike="noStrike">
                <a:solidFill>
                  <a:srgbClr val="D1C4E9"/>
                </a:solidFill>
                <a:latin typeface="Consolas"/>
                <a:ea typeface="Consolas"/>
                <a:cs typeface="Consolas"/>
                <a:sym typeface="Consolas"/>
              </a:rPr>
              <a:t>github.com/Aniket-Mishra/EMRM/tree/IDA_2026_Submission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323519" y="3437704"/>
            <a:ext cx="8149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Aniket Mishra</a:t>
            </a:r>
            <a:r>
              <a:rPr lang="en-US" sz="1900">
                <a:solidFill>
                  <a:srgbClr val="D1C4E9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1900">
              <a:solidFill>
                <a:srgbClr val="D1C4E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400"/>
              <a:buFont typeface="Calibri"/>
              <a:buNone/>
            </a:pPr>
            <a:r>
              <a:rPr b="0" i="0" lang="en-US" sz="1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a.mishra3@student.tue.nl</a:t>
            </a:r>
            <a:r>
              <a:rPr b="0" i="0" lang="en-US" sz="1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9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anmishraofficial@gmail.co</a:t>
            </a:r>
            <a:r>
              <a:rPr lang="en-US" sz="1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</a:t>
            </a:r>
            <a:r>
              <a:rPr lang="en-US" sz="1900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0" y="0"/>
            <a:ext cx="9144000" cy="48600"/>
          </a:xfrm>
          <a:prstGeom prst="rect">
            <a:avLst/>
          </a:prstGeom>
          <a:solidFill>
            <a:srgbClr val="D1C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2" name="Google Shape;232;p15"/>
          <p:cNvSpPr/>
          <p:nvPr/>
        </p:nvSpPr>
        <p:spPr>
          <a:xfrm rot="5400000">
            <a:off x="6559200" y="2558925"/>
            <a:ext cx="5118300" cy="51300"/>
          </a:xfrm>
          <a:prstGeom prst="rect">
            <a:avLst/>
          </a:prstGeom>
          <a:solidFill>
            <a:srgbClr val="D1C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3" name="Google Shape;233;p15"/>
          <p:cNvSpPr/>
          <p:nvPr/>
        </p:nvSpPr>
        <p:spPr>
          <a:xfrm rot="5400000">
            <a:off x="-2533500" y="2558925"/>
            <a:ext cx="5118300" cy="51300"/>
          </a:xfrm>
          <a:prstGeom prst="rect">
            <a:avLst/>
          </a:prstGeom>
          <a:solidFill>
            <a:srgbClr val="D1C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34" name="Google Shape;23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6575" y="1419250"/>
            <a:ext cx="2763550" cy="27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399" y="4158850"/>
            <a:ext cx="1514000" cy="4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2026-03-20T08:50:23Z</dcterms:created>
  <dc:creator>Aniket Mishra</dc:creator>
</cp:coreProperties>
</file>